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기획 문서 · 와이어프레임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6344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웹 와이어프레임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0332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고혈압 위험 선별 + 생활습관 챌린지 웹 서비스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ID와 연결 요구사항은 요구사항 정의서(66건)를 따름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709160"/>
            <a:ext cx="3657600" cy="2032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9377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AI 헬스케어 6기 · 3조 김네장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2026-09-22 · v1.3 · 기준 해상도 1280px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디자인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색 — 팀에서 정한 조합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19"/>
            <a:ext cx="1152144" cy="365760"/>
          </a:xfrm>
          <a:prstGeom prst="roundRect">
            <a:avLst/>
          </a:prstGeom>
          <a:solidFill>
            <a:srgbClr val="FEF5ED"/>
          </a:solidFill>
          <a:ln w="9525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48255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#FEF5ED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3113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연한 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5688" y="1645919"/>
            <a:ext cx="1152144" cy="365760"/>
          </a:xfrm>
          <a:prstGeom prst="roundRect">
            <a:avLst/>
          </a:prstGeom>
          <a:solidFill>
            <a:srgbClr val="D3E4CD"/>
          </a:solidFill>
          <a:ln w="9525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5688" y="2048255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#D3E4CD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223113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보조 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1645919"/>
            <a:ext cx="1152144" cy="365760"/>
          </a:xfrm>
          <a:prstGeom prst="roundRect">
            <a:avLst/>
          </a:prstGeom>
          <a:solidFill>
            <a:srgbClr val="ADC2A9"/>
          </a:solidFill>
          <a:ln w="9525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2048255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#ADC2A9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223113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테두리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72583" y="1645919"/>
            <a:ext cx="1152144" cy="365760"/>
          </a:xfrm>
          <a:prstGeom prst="roundRect">
            <a:avLst/>
          </a:prstGeom>
          <a:solidFill>
            <a:srgbClr val="99A799"/>
          </a:solidFill>
          <a:ln w="9525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2583" y="2048255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#99A799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3" y="223113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포인트 · 주 버튼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56032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바탕은 흰색. 면 · 테두리 · 포인트는 위 네 색 안에서만 쓴다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포인트색은 한 화면에 한 번 — 주 버튼, 현재 메뉴에만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#99A799를 글씨로 쓰면 흰 바탕 대비 2.5로 안 읽힘 → 글씨는 #384038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보조 설명은 #5C665C. 둘 다 #99A799를 어둡게 내린 같은 계열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280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위험 범주 — 요구사항 PRED-001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664207"/>
            <a:ext cx="2103120" cy="310896"/>
          </a:xfrm>
          <a:prstGeom prst="roundRect">
            <a:avLst>
              <a:gd name="adj" fmla="val 4000"/>
            </a:avLst>
          </a:prstGeom>
          <a:solidFill>
            <a:srgbClr val="E6EFE3"/>
          </a:solidFill>
          <a:ln w="22225">
            <a:solidFill>
              <a:srgbClr val="3E7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3E7A55"/>
                </a:solidFill>
                <a:latin typeface="Nanum Gothic"/>
                <a:ea typeface="Nanum Gothic"/>
                <a:cs typeface="Nanum Gothic"/>
              </a:rPr>
              <a:t>저위험 · 정상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084831"/>
            <a:ext cx="2103120" cy="310896"/>
          </a:xfrm>
          <a:prstGeom prst="roundRect">
            <a:avLst>
              <a:gd name="adj" fmla="val 4000"/>
            </a:avLst>
          </a:prstGeom>
          <a:solidFill>
            <a:srgbClr val="F6ECD8"/>
          </a:solidFill>
          <a:ln w="22225">
            <a:solidFill>
              <a:srgbClr val="966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96681F"/>
                </a:solidFill>
                <a:latin typeface="Nanum Gothic"/>
                <a:ea typeface="Nanum Gothic"/>
                <a:cs typeface="Nanum Gothic"/>
              </a:rPr>
              <a:t>경계 · 주의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505456"/>
            <a:ext cx="2103120" cy="310896"/>
          </a:xfrm>
          <a:prstGeom prst="roundRect">
            <a:avLst>
              <a:gd name="adj" fmla="val 4000"/>
            </a:avLst>
          </a:prstGeom>
          <a:solidFill>
            <a:srgbClr val="F6E3DC"/>
          </a:solidFill>
          <a:ln w="22225">
            <a:solidFill>
              <a:srgbClr val="B45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고위험 · 위험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971799"/>
            <a:ext cx="484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요구사항은 저위험·경계·고위험, 화면 문구는 정상·주의·위험으로 1:1 대응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팔레트 4색이 모두 같은 계열이라 단계 색만 예외로 둠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색만 두지 않고 단계 이름을 항상 글자로 같이 쓴다 (NFR-ACC-003)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4348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글씨 · 크기 (NFR-ACC-001)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0060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본문 17px / 보조 설명 15px (최소값, 이보다 작게 쓰지 않음)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버튼 글씨 18px · 클릭 영역 최소 48px 높이 (NFR-ACC-002)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핵심 숫자 40px — 위험 점수, 혈관 나이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본문 한 줄은 한글 40자 내외까지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4348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레이아웃 (NFR-UX-002)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80060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한 화면에 주 버튼 하나. 나머지는 테두리만 있는 보조 버튼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카드는 꼭 나눠야 할 때만. 전부 카드면 뭐가 중요한지 사라짐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1280px 기준, 940px 아래에서 한 줄로 쌓임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상단 메뉴 4개. 현재 위치는 색 + 밑줄 둘 다로 (NFR-ACC-003)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화면 목록 · 핵심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280160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280160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280160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연결 요구사항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554480"/>
            <a:ext cx="10634472" cy="1778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19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645919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서비스 소개 · 시작하기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645919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소개 → 시작하기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645919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901952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984248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1984248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회원가입 · 로그인 · 동의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984248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계정 생성 → 필수 동의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984248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USER-001·002·004 / CONSENT-001·003 / SEC-003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240280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322576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322576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이용 적합성 · 응급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322576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안전 문진 → 서비스 분기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322576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ELIG-001·002·003·004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578608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660904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660904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건강정보 입력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660904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직접 입력 →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660904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HEALTH-001·002·003·004 / SEC-003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2916936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2999232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999232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입력 검토 · 분석 대기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2999232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확인 → 비동기 분석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2999232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PRED-002 / ASYNC-001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3255264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33756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3337560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예측 결과 · XAI 설명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3337560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선별 결과 → 설명 → 다음 행동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3337560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PRED-001·003·006 / RECO-001 / SAFE-001~003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3593592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675888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3675888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검사 · 상담 안내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3675888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고위험 → 의료기관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3675888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PRED-005 / SAFE-001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3931920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4014216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" y="4014216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대시보드 (홈)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0" y="4014216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상태 요약 → 오늘의 실천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4014216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PRED-004·007 / DASH-001·004·005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" y="4270248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352544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00200" y="4352544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챌린지 선택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20" y="4352544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추천 → 선택 → 시작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4352544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CHAL-001·002·003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608576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4690872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" y="4690872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챌린지 수행 · 인증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17720" y="4690872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목표 → 인증 → 달성률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4690872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CHAL-004·005·006·007 / RECO-002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" y="4946904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502920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00200" y="5029200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추이 · 변화 추적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17720" y="5029200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이력 → 차트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52360" y="5029200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DASH-002·003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" y="5285232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5367528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00200" y="5367528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피드백 · 마이페이지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17720" y="5367528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의견 → 저장 / 계정 관리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52360" y="5367528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USER-003 / CONSENT-002 / NOTI-001 / FEED-001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7240" y="5623560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7240" y="5852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핵심 흐름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7724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37360" y="623620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→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96596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26080" y="623620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→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15468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0" y="623620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→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34340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03520" y="623620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→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53212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92240" y="623620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→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72084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80960" y="623620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→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90956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69680" y="623620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09828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0" y="623620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→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28700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W01  서비스 소개 · 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소개 → 시작하기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40112" y="1133856"/>
            <a:ext cx="1371600" cy="365760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시작하기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828800"/>
            <a:ext cx="10634472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검진 결과지의 "주의", 그래서 뭘 해야 하나요?</a:t>
            </a:r>
          </a:p>
          <a:p>
            <a:pPr algn="ctr"/>
            <a:r>
              <a:rPr sz="1500" b="1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500" b="1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한 문장 헤드라인 · 서비스가 답하는 질문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5676" y="3200400"/>
            <a:ext cx="3657600" cy="475488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내 위험도 확인하기 · 무료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40480"/>
            <a:ext cx="3398520" cy="86868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 · 건강정보 입력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5216" y="3840480"/>
            <a:ext cx="3398520" cy="86868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2 · 위험 요인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3192" y="3840480"/>
            <a:ext cx="3398520" cy="86868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3 · 챌린지로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28031"/>
            <a:ext cx="10634472" cy="438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진단이 아닌 선별 정보라는 고지 · 근거 출처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5649" y="5394959"/>
            <a:ext cx="6806062" cy="562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헤드라인은 질문형 — 문제정의서의 1차 타겟(경계군)이 자기 얘기로 느끼게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주 버튼은 하나뿐. "무료"를 붙여 가입 부담을 낮춤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고지 문구를 접거나 흐리게 처리하지 말 것 (NFR-SAFE-001)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W02  회원가입 · 로그인 · 동의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계정 생성 → 필수 동의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USER-001·002·004 / CONSENT-001·003 / SEC-003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08476" y="1828800"/>
            <a:ext cx="2231136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이름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1828800"/>
            <a:ext cx="2231136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생년월일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08476" y="2359152"/>
            <a:ext cx="457200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이메일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08476" y="2889504"/>
            <a:ext cx="457200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비밀번호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08476" y="3419856"/>
            <a:ext cx="457200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비밀번호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08476" y="4023360"/>
            <a:ext cx="4572000" cy="73152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[필수] 이용약관 · 개인정보 수집 동의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[필수] 건강정보 수집 항목 · 목적 · 보유기간 · 철회 방법 확인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만 14세 미만이면 법정대리인 동의 단계가 추가 (CONSENT-003)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08476" y="4828031"/>
            <a:ext cx="4572000" cy="457200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가입하기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5649" y="5413247"/>
            <a:ext cx="680606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건강정보 동의는 일반 약관과 분리 — 동의 버전과 시각을 저장해야 함 (CONSENT-001)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미동의 상태로는 건강정보 입력 화면으로 넘어가지 않는다 (API 403)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이름은 받되 그 외 용도로 쓰지 않음. 최소 수집 원칙 (SEC-003)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성별은 건강 데이터라 W04에서 받음. 나이는 생년월일로 자동 계산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W03  이용 적합성 · 응급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6/16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안전 문진 → 서비스 분기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ELIG-001·002·003·004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828800"/>
            <a:ext cx="10634472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지금 긴급한 증상이 있나요?</a:t>
            </a:r>
          </a:p>
          <a:p>
            <a:pPr algn="ctr"/>
            <a:r>
              <a:rPr sz="1300" b="1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심한 두통 · 가슴 통증 · 한쪽 마비 · 말이 어눌해짐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88920"/>
            <a:ext cx="3398520" cy="457200"/>
          </a:xfrm>
          <a:prstGeom prst="roundRect">
            <a:avLst>
              <a:gd name="adj" fmla="val 4000"/>
            </a:avLst>
          </a:prstGeom>
          <a:solidFill>
            <a:srgbClr val="F6E3DC"/>
          </a:solidFill>
          <a:ln w="22225">
            <a:solidFill>
              <a:srgbClr val="B45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5216" y="2788920"/>
            <a:ext cx="339852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아니오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3192" y="2788920"/>
            <a:ext cx="339852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잘 모르겠습니다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83280"/>
            <a:ext cx="10634472" cy="566928"/>
          </a:xfrm>
          <a:prstGeom prst="roundRect">
            <a:avLst>
              <a:gd name="adj" fmla="val 4000"/>
            </a:avLst>
          </a:prstGeom>
          <a:solidFill>
            <a:srgbClr val="F6E3DC"/>
          </a:solidFill>
          <a:ln w="22225">
            <a:solidFill>
              <a:srgbClr val="B45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"예" 선택 시 · 119 원터치 전화 버튼을 상단에 고정</a:t>
            </a:r>
          </a:p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진행을 차단하지는 않는다 (ELIG-003)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59935"/>
            <a:ext cx="5244084" cy="86868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고혈압 진단을 받은 적이 있나요?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있음 → 예측 제외, 챌린지·대시보드로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(ELIG-002)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7628" y="4059935"/>
            <a:ext cx="5244084" cy="86868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모델 검증 연령 범위 밖이면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예측만 만들지 않고 사유 안내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(ELIG-001)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47488"/>
            <a:ext cx="10634472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부적합 사유를 쉬운 문장으로 · 연령 / 기진단 / 경고 증상으로 구분 (ELIG-004)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5649" y="5618988"/>
            <a:ext cx="6806062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응급 안내를 예측보다 앞에 둔다. 다만 진행을 막지 않고 상단 고정만 (ELIG-003 수용 기준)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나이로 가입을 막지 않는다. 범위 밖이어도 챌린지·기록은 그대로, 예측만 빠진다 (ELIG-001)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사유·증상은 민감정보라 URL이나 로그에 남기지 않는다 (ELIG-004 / NFR-SEC-004)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W04  건강정보 입력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7/16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직접 입력 →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HEALTH-001·002·003·004 / SEC-003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10634472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1단계 ─── 2단계 ─── 3단계   진행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304288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필수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560320"/>
            <a:ext cx="5848959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검진일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944368"/>
            <a:ext cx="5848959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성별  (나이는 생년월일로 자동)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328415"/>
            <a:ext cx="5848959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수축기 혈압 (mmHg)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12463"/>
            <a:ext cx="5848959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이완기 혈압 (mmHg)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1"/>
            <a:ext cx="5848959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신장 (cm) / 체중 (kg)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480560"/>
            <a:ext cx="5848959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흡연 여부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864608"/>
            <a:ext cx="5848959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당뇨병 여부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248656"/>
            <a:ext cx="5848959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부모 고혈압 가족력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7923" y="2304288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선택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57923" y="2560320"/>
            <a:ext cx="4253788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총콜레스테롤 (mg/dL)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57923" y="2944368"/>
            <a:ext cx="4253788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HDL 콜레스테롤 (mg/dL)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57923" y="3328415"/>
            <a:ext cx="4253788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음주 빈도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57923" y="3712463"/>
            <a:ext cx="4253788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운동 빈도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57923" y="4133087"/>
            <a:ext cx="4253788" cy="658368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BMI는 신장·체중으로 서버가 계산</a:t>
            </a:r>
          </a:p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사용자가 직접 입력하지 않음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57923" y="4882896"/>
            <a:ext cx="4253788" cy="457200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검토하기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5649" y="5468112"/>
            <a:ext cx="680606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선택 항목이 비어도 예측은 수행하고, 결과에 정확도 한계를 표시 (HEALTH-002)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검진일을 받아 기존 기록을 덮어쓰지 않고 날짜별로 쌓는다 (HEALTH-004)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같은 검진일을 또 제출하면 409로 막는다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단위를 입력칸 안에 고정 표시해 잘못 넣는 걸 막음 (HEALTH-003)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W05  입력 검토 · 분석 대기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8/16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확인 → 비동기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PRED-002 / ASYNC-001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10634472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입력 내용 검토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수축기 128 · 이완기 84 · 신장 168 · 체중 62 · 비흡연 · 당뇨 없음 · 가족력 있음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[ 수정하기 ]                    [ 이대로 분석 요청 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17520"/>
            <a:ext cx="10634472" cy="1188720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분석 중</a:t>
            </a:r>
          </a:p>
          <a:p>
            <a:pPr algn="ctr"/>
            <a:r>
              <a:rPr sz="12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2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▓▓▓▓▓▓▓░░░</a:t>
            </a:r>
          </a:p>
          <a:p>
            <a:pPr algn="ctr"/>
            <a:r>
              <a:rPr sz="12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입력값 확인 → 위험도 계산 → 결과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43400"/>
            <a:ext cx="2567178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대기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0722" y="4343400"/>
            <a:ext cx="2567178" cy="457200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실행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4204" y="4343400"/>
            <a:ext cx="2567178" cy="457200"/>
          </a:xfrm>
          <a:prstGeom prst="roundRect">
            <a:avLst>
              <a:gd name="adj" fmla="val 4000"/>
            </a:avLst>
          </a:prstGeom>
          <a:solidFill>
            <a:srgbClr val="E6EFE3"/>
          </a:solidFill>
          <a:ln w="22225">
            <a:solidFill>
              <a:srgbClr val="3E7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3E7A55"/>
                </a:solidFill>
                <a:latin typeface="Nanum Gothic"/>
                <a:ea typeface="Nanum Gothic"/>
                <a:cs typeface="Nanum Gothic"/>
              </a:rPr>
              <a:t>완료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7686" y="4343400"/>
            <a:ext cx="2567178" cy="457200"/>
          </a:xfrm>
          <a:prstGeom prst="roundRect">
            <a:avLst>
              <a:gd name="adj" fmla="val 4000"/>
            </a:avLst>
          </a:prstGeom>
          <a:solidFill>
            <a:srgbClr val="F6E3DC"/>
          </a:solidFill>
          <a:ln w="22225">
            <a:solidFill>
              <a:srgbClr val="B45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실패 · 재시도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37760"/>
            <a:ext cx="10634472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접수하면 job_id를 돌려주고, 이 화면에서 상태를 조회한다 (PRED-002)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5649" y="5468112"/>
            <a:ext cx="680606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예측은 비동기라 결과가 즉시 안 나온다. 대기 상태를 화면으로 보여줘야 함 (ASYNC-001)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진행률이나 단계를 글자로 보여준다. 도는 원만 있으면 멈춘 줄 알고 새로고침함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실패 시 재시도 가능 여부를 표시하고, 입력값은 지우지 않는다 (PRED-002)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1초 안에 끝나면 이 화면을 띄우지 않고 바로 W06으로 넘긴다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W06  예측 결과 · XAI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9/16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선별 결과 → 설명 → 다음 행동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PRED-001·003·006 / RECO-001 / SAFE-001~003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1528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10634472" cy="566928"/>
          </a:xfrm>
          <a:prstGeom prst="roundRect">
            <a:avLst>
              <a:gd name="adj" fmla="val 4000"/>
            </a:avLst>
          </a:prstGeom>
          <a:solidFill>
            <a:srgbClr val="F6ECD8"/>
          </a:solidFill>
          <a:ln w="22225">
            <a:solidFill>
              <a:srgbClr val="966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6681F"/>
                </a:solidFill>
                <a:latin typeface="Nanum Gothic"/>
                <a:ea typeface="Nanum Gothic"/>
                <a:cs typeface="Nanum Gothic"/>
              </a:rPr>
              <a:t>경계 (주의) — 고혈압 전단계입니다. 지금 생활습관을 바꾸면 되돌릴 수 있는 구간입니다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487168"/>
            <a:ext cx="348996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혈관 나이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34세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실제 나이보다 4살 많음 · 추정치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9496" y="2487168"/>
            <a:ext cx="348996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위험 점수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18%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같은 나이·성별 평균 11%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1752" y="2487168"/>
            <a:ext cx="3489960" cy="960120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추천 한 줄 (LLM)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"국물을 남기는 것부터"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근거 문장 함께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6616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위험을 올린 요인 — XAI (PRED-003)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77056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수축기 혈압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3858768"/>
            <a:ext cx="7525512" cy="237744"/>
          </a:xfrm>
          <a:prstGeom prst="rect">
            <a:avLst/>
          </a:prstGeom>
          <a:solidFill>
            <a:srgbClr val="FEF5ED"/>
          </a:solidFill>
          <a:ln w="9525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23160" y="3858768"/>
            <a:ext cx="6170919" cy="237744"/>
          </a:xfrm>
          <a:prstGeom prst="rect">
            <a:avLst/>
          </a:prstGeom>
          <a:solidFill>
            <a:srgbClr val="99A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0112" y="3877056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+8.2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체질량지수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4187952"/>
            <a:ext cx="7525512" cy="237744"/>
          </a:xfrm>
          <a:prstGeom prst="rect">
            <a:avLst/>
          </a:prstGeom>
          <a:solidFill>
            <a:srgbClr val="FEF5ED"/>
          </a:solidFill>
          <a:ln w="9525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23160" y="4187952"/>
            <a:ext cx="4063776" cy="237744"/>
          </a:xfrm>
          <a:prstGeom prst="rect">
            <a:avLst/>
          </a:prstGeom>
          <a:solidFill>
            <a:srgbClr val="99A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40112" y="4206240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+5.4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535424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짠 음식 빈도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4517136"/>
            <a:ext cx="7525512" cy="237744"/>
          </a:xfrm>
          <a:prstGeom prst="rect">
            <a:avLst/>
          </a:prstGeom>
          <a:solidFill>
            <a:srgbClr val="FEF5ED"/>
          </a:solidFill>
          <a:ln w="9525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23160" y="4517136"/>
            <a:ext cx="3085459" cy="237744"/>
          </a:xfrm>
          <a:prstGeom prst="rect">
            <a:avLst/>
          </a:prstGeom>
          <a:solidFill>
            <a:srgbClr val="99A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0112" y="4535424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+4.1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864608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가족력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23160" y="4846320"/>
            <a:ext cx="7525512" cy="237744"/>
          </a:xfrm>
          <a:prstGeom prst="rect">
            <a:avLst/>
          </a:prstGeom>
          <a:solidFill>
            <a:srgbClr val="FEF5ED"/>
          </a:solidFill>
          <a:ln w="9525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23160" y="4846320"/>
            <a:ext cx="1128826" cy="237744"/>
          </a:xfrm>
          <a:prstGeom prst="rect">
            <a:avLst/>
          </a:prstGeom>
          <a:solidFill>
            <a:srgbClr val="99A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40112" y="4864608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+1.5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230368"/>
            <a:ext cx="6325819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진단이 아닌 선별 정보 · 불확실성 표기 · 약물 언급 금지 (SAFE-001~003)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12787" y="5230368"/>
            <a:ext cx="4198924" cy="402336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챌린지 시작하기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5649" y="5468112"/>
            <a:ext cx="680606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혈관 나이를 위험 점수와 나란히 — 비위협적 표현 (PRED-006)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"18%"는 혼자 두면 해석이 안 됨. 평균과 함께 제시 (SAFE-003)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회색 막대는 바꿀 수 없는 요인(가족력). 시선이 거기 머물지 않게 맨 아래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고위험이면 주 버튼이 "챌린지"가 아니라 W07 검사·상담 안내로 바뀐다 (PRED-005)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W07  검사 · 상담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10/16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고위험 → 의료기관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PRED-005 / SAFE-001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1528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10634472" cy="685800"/>
          </a:xfrm>
          <a:prstGeom prst="roundRect">
            <a:avLst>
              <a:gd name="adj" fmla="val 4000"/>
            </a:avLst>
          </a:prstGeom>
          <a:solidFill>
            <a:srgbClr val="F6E3DC"/>
          </a:solidFill>
          <a:ln w="22225">
            <a:solidFill>
              <a:srgbClr val="B45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고위험 — 의료기관 진료를 권합니다</a:t>
            </a:r>
          </a:p>
          <a:p>
            <a:pPr algn="ctr"/>
            <a:r>
              <a:rPr sz="1200" b="1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이 화면은 진단이 아니며, 검사 여부는 의사가 판단합니다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633472"/>
            <a:ext cx="5244084" cy="118872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무엇을 상의하면 되나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혈압이 계속 높게 나오는지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추가 검사가 필요한지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생활습관으로 조절 가능한 범위인지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7628" y="2633472"/>
            <a:ext cx="5244084" cy="118872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가져갈 것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최근 혈압 기록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입력한 검진 수치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실천 중인 생활습관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50208"/>
            <a:ext cx="10634472" cy="731520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가까운 의료기관 찾기 · 지역 선택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85632" y="4791456"/>
            <a:ext cx="2926080" cy="457200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챌린지도 함께 시작하기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5649" y="5376672"/>
            <a:ext cx="6806062" cy="562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"검사를 받으세요"가 아니라 "상의해 보세요" — 진단·처방으로 읽히면 안 됨 (SAFE-001)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고위험이어도 챌린지를 막지 않는다. 병원과 생활습관은 배타적이지 않음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특정 병원·검사를 추천하지 않는다. 참여기업 연계는 광고로 읽힐 수 있어 팀 확인 필요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W08  대시보드 (홈)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11/16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상태 요약 → 오늘의 실천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PRED-004·007 / DASH-001·004·005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1528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5244084" cy="1051560"/>
          </a:xfrm>
          <a:prstGeom prst="roundRect">
            <a:avLst>
              <a:gd name="adj" fmla="val 4000"/>
            </a:avLst>
          </a:prstGeom>
          <a:solidFill>
            <a:srgbClr val="F6ECD8"/>
          </a:solidFill>
          <a:ln w="22225">
            <a:solidFill>
              <a:srgbClr val="966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96681F"/>
                </a:solidFill>
                <a:latin typeface="Nanum Gothic"/>
                <a:ea typeface="Nanum Gothic"/>
                <a:cs typeface="Nanum Gothic"/>
              </a:rPr>
              <a:t>최신 위험도</a:t>
            </a:r>
          </a:p>
          <a:p>
            <a:pPr algn="ctr"/>
            <a:r>
              <a:rPr sz="1100" b="0">
                <a:solidFill>
                  <a:srgbClr val="96681F"/>
                </a:solidFill>
                <a:latin typeface="Nanum Gothic"/>
                <a:ea typeface="Nanum Gothic"/>
                <a:cs typeface="Nanum Gothic"/>
              </a:rPr>
              <a:t>경계 (주의) · 18%</a:t>
            </a:r>
          </a:p>
          <a:p>
            <a:pPr algn="ctr"/>
            <a:r>
              <a:rPr sz="1100" b="0">
                <a:solidFill>
                  <a:srgbClr val="96681F"/>
                </a:solidFill>
                <a:latin typeface="Nanum Gothic"/>
                <a:ea typeface="Nanum Gothic"/>
                <a:cs typeface="Nanum Gothic"/>
              </a:rPr>
              <a:t>2026-09-22 측정 · 혈관 나이 34세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7628" y="1828800"/>
            <a:ext cx="5244084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이번 주 챌린지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4 / 7일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월 화 수 목 금 토 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오늘의 실천 (DASH-004)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91840"/>
            <a:ext cx="5848959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아침 먹기 — 완료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30752"/>
            <a:ext cx="5848959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국물 남기기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69664"/>
            <a:ext cx="5848959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30분 걷기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7923" y="3291840"/>
            <a:ext cx="4253788" cy="804672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기록이 없을 때</a:t>
            </a:r>
          </a:p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"건강정보를 입력하면</a:t>
            </a:r>
          </a:p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여기에 결과가 표시됩니다" (DASH-005)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7923" y="4169664"/>
            <a:ext cx="4253788" cy="804672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사이클이 끝나면 자동 재예측</a:t>
            </a:r>
          </a:p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수동 요청은 7일에 한 번 (PRED-007)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718304"/>
            <a:ext cx="5848959" cy="457200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챌린지 이어서 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5649" y="5303520"/>
            <a:ext cx="680606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로그인 후 첫 화면. 재방문자가 가장 많이 보는 화면이라 요약을 맨 위에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빈 데이터 상태를 반드시 그린다. 첫 방문자가 보는 건 이쪽 (DASH-005)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"4 / 7일"에 빨간색 금지. 못 지킨 걸 질책하는 화면이 되면 안 들어옴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재예측이 돌면 결과를 덮어쓰지 않고 이력으로 쌓아 W11에서 조회 (PRED-007)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W09  챌린지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12/16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추천 → 선택 → 시작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CHAL-001·002·003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50407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10634472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위험 요인에 맞춰 추천했습니다 — 수축기 혈압 · 짠 음식 빈도 (CHAL-001)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450592"/>
            <a:ext cx="2567178" cy="1097280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집밥 · 저염식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연결 요인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짠 음식 빈도 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2434" y="2450592"/>
            <a:ext cx="2567178" cy="109728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나트륨 섭취 기록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연결 요인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짠 음식 빈도 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7628" y="2450592"/>
            <a:ext cx="2567178" cy="109728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아침 식사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연결 요인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아침 결식 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2822" y="2450592"/>
            <a:ext cx="2567178" cy="109728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저염 외식 요령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연결 요인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배달음식 나트륨 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675887"/>
            <a:ext cx="10634472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사이클 4주 · 진행 중인 사이클은 1개만 (CHAL-002)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시작일과 종료일을 미리 보여준다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5676" y="4370831"/>
            <a:ext cx="3657600" cy="475488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4주 챌린지 시작하기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5649" y="4974334"/>
            <a:ext cx="6806062" cy="562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후보는 최소 3개. 각 후보에 연결된 위험 요인을 함께 표시 (CHAL-003)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후보 4종은 문제정의서의 근거 기반 챌린지 소재와 일치시킴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진행 중 사이클이 있으면 이 화면 대신 W10으로 보낸다 (CHAL-002)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W10  챌린지 수행 · 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13/16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목표 → 인증 → 달성률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CHAL-004·005·006·007 / RECO-002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50407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10634472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집밥 · 저염식 챌린지    2주차 · 4 / 7일</a:t>
            </a:r>
          </a:p>
          <a:p>
            <a:pPr algn="ctr"/>
            <a:r>
              <a:rPr sz="1200" b="1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월 화 수 목 금 토 일 — 요일별 달성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743200"/>
            <a:ext cx="5848959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아침 먹기 — 완료 (취소선)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18688"/>
            <a:ext cx="5848959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국물 남기기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94176"/>
            <a:ext cx="5848959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30분 걷기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7923" y="2743200"/>
            <a:ext cx="4253788" cy="658368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식단 사진 올리기</a:t>
            </a:r>
          </a:p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이미지로 인증 (RECO-002)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57923" y="3474720"/>
            <a:ext cx="4253788" cy="658368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당일 기록만 수정 가능</a:t>
            </a:r>
          </a:p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지난 날짜는 403 (CHAL-005)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7923" y="4206240"/>
            <a:ext cx="4253788" cy="658368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달성률 · 주간 추이 (CHAL-006)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06240"/>
            <a:ext cx="2878759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사이클 중단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7439" y="4206240"/>
            <a:ext cx="2878759" cy="475488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오늘 인증하기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791456"/>
            <a:ext cx="10634472" cy="457200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중단 · 목표 미달로 끝나도 이력에 남기고, 재도전 또는 목표 조정을 제안 (CHAL-007)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5649" y="5376672"/>
            <a:ext cx="6806062" cy="562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체크 영역은 줄 전체(48px 이상). 정확히 안 눌러도 되게 (NFR-ACC-002)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완료 항목은 지우지 않고 취소선으로 남김 — 한 일이 보여야 동기가 생김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중단 사유는 선택 입력. 실패를 질책하는 표현을 쓰지 않는다 (CHAL-007)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W11  추이 · 변화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이력 → 차트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DASH-002·003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7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10634472" cy="384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기간 선택 · 3개월 / 6개월 / 1년 / 전체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331720"/>
            <a:ext cx="10634472" cy="1417320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예측 이력 꺾은선 — 위험 점수 변화 (DASH-002)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정상 범위를 옅은 띠로 함께 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58768"/>
            <a:ext cx="3489960" cy="77724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혈압 추이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수축기 · 이완기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9496" y="3858768"/>
            <a:ext cx="3489960" cy="77724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체중 · BMI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1752" y="3858768"/>
            <a:ext cx="3489960" cy="777240"/>
          </a:xfrm>
          <a:prstGeom prst="roundRect">
            <a:avLst>
              <a:gd name="adj" fmla="val 4000"/>
            </a:avLst>
          </a:prstGeom>
          <a:solidFill>
            <a:srgbClr val="E6EFE3"/>
          </a:solidFill>
          <a:ln w="22225">
            <a:solidFill>
              <a:srgbClr val="3E7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3E7A55"/>
                </a:solidFill>
                <a:latin typeface="Nanum Gothic"/>
                <a:ea typeface="Nanum Gothic"/>
                <a:cs typeface="Nanum Gothic"/>
              </a:rPr>
              <a:t>최초 대비 변화</a:t>
            </a:r>
          </a:p>
          <a:p>
            <a:pPr algn="ctr"/>
            <a:r>
              <a:rPr sz="1050" b="0">
                <a:solidFill>
                  <a:srgbClr val="3E7A55"/>
                </a:solidFill>
                <a:latin typeface="Nanum Gothic"/>
                <a:ea typeface="Nanum Gothic"/>
                <a:cs typeface="Nanum Gothic"/>
              </a:rPr>
              <a:t>"처음보다 4% 낮아졌습니다" (DASH-003)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54880"/>
            <a:ext cx="10634472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기록이 2개 미만이면 차트 대신 "기록이 쌓이면 여기에 변화가 보입니다"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5649" y="5340096"/>
            <a:ext cx="6806062" cy="562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정상 범위를 배경 띠로 깔아야 선 하나만 보고도 판단 가능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혈압 그래프와 챌린지 달성률을 같은 가로축에 두면 인과를 암시 — 분리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이력이 쌓이려면 재예측이 돌아야 함. 트리거는 W08 (PRED-007)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W12  피드백 · 마이페이지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의견 → 저장 / 계정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USER-003 / CONSENT-002 / NOTI-001 / FEED-001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7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10634472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이 결과가 도움이 되었나요?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[ 도움됨 ]   [ 보통 ]   [ 아님 ]      의견 남기기 (선택)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834640"/>
            <a:ext cx="2560320" cy="402336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10128"/>
            <a:ext cx="2560320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검진 기록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85616"/>
            <a:ext cx="2560320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 기록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261104"/>
            <a:ext cx="2560320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알림 설정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2834640"/>
            <a:ext cx="779983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이메일 · 비밀번호 변경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3474720"/>
            <a:ext cx="7799832" cy="54864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 미수행 알림 받기 — 끄면 발송하지 않음 (NOTI-001)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114800"/>
            <a:ext cx="7799832" cy="54864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 처리 동의 철회 (CONSENT-002)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4754880"/>
            <a:ext cx="38450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데이터 내려받기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66660" y="4754880"/>
            <a:ext cx="3845052" cy="548640"/>
          </a:xfrm>
          <a:prstGeom prst="roundRect">
            <a:avLst>
              <a:gd name="adj" fmla="val 4000"/>
            </a:avLst>
          </a:prstGeom>
          <a:solidFill>
            <a:srgbClr val="F6E3DC"/>
          </a:solidFill>
          <a:ln w="22225">
            <a:solidFill>
              <a:srgbClr val="B45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회원 탈퇴 (USER-003)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5649" y="5431536"/>
            <a:ext cx="680606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평가는 대상(예측/추천)과 대상 버전을 함께 저장 (FEED-001)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동의 철회와 회원 탈퇴는 다른 기능. 철회해도 계정은 남는다 (CONSENT-002)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내려받기와 탈퇴는 버튼을 분리한다. 같은 줄에 두면 눌러야 할 것을 잘못 누름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탈퇴는 재인증 후 처리하고, 무엇이 지워지는지 먼저 보여준다 (USER-003)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공통 상태 · 실패 / 빈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16/16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각 화면 안의 상태 (W05 제외)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분석 대기는 W05로 독립 화면이 있다. 그 외 상태는 별도 페이지를 만들지 않고 해당 화면 안에서 바꾼다 — 로딩에 URL이 생기면 뒤로가기가 깨진다.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3416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짧은 로딩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956816"/>
            <a:ext cx="3416808" cy="14630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nut 10"/>
          <p:cNvSpPr/>
          <p:nvPr/>
        </p:nvSpPr>
        <p:spPr>
          <a:xfrm>
            <a:off x="2129028" y="2231136"/>
            <a:ext cx="713232" cy="713232"/>
          </a:xfrm>
          <a:prstGeom prst="donut">
            <a:avLst>
              <a:gd name="adj" fmla="val 18000"/>
            </a:avLst>
          </a:prstGeom>
          <a:solidFill>
            <a:srgbClr val="D3E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lock Arc 11"/>
          <p:cNvSpPr/>
          <p:nvPr/>
        </p:nvSpPr>
        <p:spPr>
          <a:xfrm>
            <a:off x="2129028" y="2231136"/>
            <a:ext cx="713232" cy="713232"/>
          </a:xfrm>
          <a:prstGeom prst="blockArc">
            <a:avLst>
              <a:gd name="adj1" fmla="val 0"/>
              <a:gd name="adj2" fmla="val 28000"/>
              <a:gd name="adj3" fmla="val 18000"/>
            </a:avLst>
          </a:prstGeom>
          <a:solidFill>
            <a:srgbClr val="99A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054096"/>
            <a:ext cx="3197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불러오는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310127"/>
            <a:ext cx="3197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누른 버튼만 비활성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341680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1초 미만이면 아무것도 띄우지 않는다. 깜빡임이 더 거슬림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화면 전체를 덮지 않고 누른 버튼만 비활성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3초를 넘으면 원만 두지 말고 W05처럼 단계를 글자로 보여준다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6072" y="1627632"/>
            <a:ext cx="3416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실패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6072" y="1956816"/>
            <a:ext cx="3416808" cy="1463040"/>
          </a:xfrm>
          <a:prstGeom prst="roundRect">
            <a:avLst>
              <a:gd name="adj" fmla="val 4000"/>
            </a:avLst>
          </a:prstGeom>
          <a:solidFill>
            <a:srgbClr val="F6E3DC"/>
          </a:solidFill>
          <a:ln w="22225">
            <a:solidFill>
              <a:srgbClr val="B45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파일을 읽지 못했습니다</a:t>
            </a:r>
          </a:p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글자가 흐리거나 잘린 것 같습니다</a:t>
            </a:r>
          </a:p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[다시] [직접 입력]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6072" y="3566160"/>
            <a:ext cx="341680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무엇이 문제인지 먼저. "오류가 발생했습니다" 금지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반드시 다음 행동을 준다 — 재시도 / 우회 경로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이미 입력한 값은 지우지 않는다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예측 실패는 재시도 가능 여부를 표시 (PRED-002)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4904" y="1627632"/>
            <a:ext cx="3416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빈 화면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4904" y="1956816"/>
            <a:ext cx="3416808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아직 기록이 없습니다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건강정보를 입력하면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여기에 결과가 보입니다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[입력하러 가기]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4904" y="3566160"/>
            <a:ext cx="341680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빈 표나 빈 그래프를 그대로 두지 않는다 (DASH-005)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무엇을 하면 채워지는지 한 줄 + 버튼 하나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W08 · W11이 이 상태를 가장 많이 보여준다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첫 방문자가 가장 많이 보는 화면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정해진 것 · 남은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2026-09-22 확정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384048" cy="384048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68249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서비스명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691640"/>
            <a:ext cx="7068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파이온 (PAEON)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12848"/>
            <a:ext cx="384048" cy="384048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4942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화면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258568"/>
            <a:ext cx="7068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정의서의 화면 목록(W01~W12)을 그대로 따름. 각 화면에 연결 요구사항 표기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79776"/>
            <a:ext cx="384048" cy="384048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8163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위험 범주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825496"/>
            <a:ext cx="7068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저위험 · 경계 · 고위험 3단계 / 화면 문구는 정상 · 주의 · 위험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46704"/>
            <a:ext cx="384048" cy="384048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383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챌린지 사이클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392424"/>
            <a:ext cx="7068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4주. 진행 중 사이클은 1개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13632"/>
            <a:ext cx="384048" cy="384048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9502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이용 자격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959352"/>
            <a:ext cx="7068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나이로 막지 않음. 기진단자 · 모델 범위 밖 연령은 예측만 제외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608576"/>
            <a:ext cx="10634472" cy="1524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남은 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138928"/>
            <a:ext cx="384048" cy="384048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517550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진료용 한 장 리포트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184648"/>
            <a:ext cx="7068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이전 초안에 있었으나 요구사항·화면 목록에 없어 뺐음. 넣으려면 REQ부터 등재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05856"/>
            <a:ext cx="384048" cy="384048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574243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ERD 반영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751576"/>
            <a:ext cx="7068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혈압 컬럼 · 측정 이력 · 동의 기록 테이블이 없음. ERD 수정요청 문서 참조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6272784"/>
            <a:ext cx="384048" cy="384048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3093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모바일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18504"/>
            <a:ext cx="7068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웹을 다 끝내고 시간이 남을 때. 지금은 940px 아래 쌓임만 정의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